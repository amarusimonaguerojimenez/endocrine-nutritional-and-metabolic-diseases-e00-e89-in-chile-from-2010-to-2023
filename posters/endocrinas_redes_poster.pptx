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5784" cy="4280306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5784" cy="4937760"/>
          </a:xfrm>
          <a:prstGeom prst="rect">
            <a:avLst/>
          </a:prstGeom>
          <a:solidFill>
            <a:srgbClr val="13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37760"/>
            <a:ext cx="30275784" cy="164592"/>
          </a:xfrm>
          <a:prstGeom prst="rect">
            <a:avLst/>
          </a:prstGeom>
          <a:solidFill>
            <a:srgbClr val="8FE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"/>
            <a:ext cx="24057864" cy="685800"/>
          </a:xfrm>
          <a:prstGeom prst="rect">
            <a:avLst/>
          </a:prstGeom>
          <a:noFill/>
        </p:spPr>
        <p:txBody>
          <a:bodyPr wrap="square" anchor="t" lIns="127000" rIns="127000" tIns="76200" bIns="7620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8FE0B4"/>
                </a:solidFill>
                <a:latin typeface="Arial"/>
              </a:rPr>
              <a:t>REDES DE COMORBILIDAD · COMORBIDITY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24057864" cy="2651760"/>
          </a:xfrm>
          <a:prstGeom prst="rect">
            <a:avLst/>
          </a:prstGeom>
          <a:noFill/>
        </p:spPr>
        <p:txBody>
          <a:bodyPr wrap="square" anchor="t" lIns="127000" rIns="127000" tIns="76200" bIns="7620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800" b="1" i="0">
                <a:solidFill>
                  <a:srgbClr val="FFFFFF"/>
                </a:solidFill>
                <a:latin typeface="Arial"/>
              </a:rPr>
              <a:t>Redes de co-ocurrencia de comorbilidades en hospitalizaciones endocrino-metabólicas (E00–E89) — Chile, GRD 2019–2024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75887"/>
            <a:ext cx="24057864" cy="658368"/>
          </a:xfrm>
          <a:prstGeom prst="rect">
            <a:avLst/>
          </a:prstGeom>
          <a:noFill/>
        </p:spPr>
        <p:txBody>
          <a:bodyPr wrap="square" anchor="t" lIns="127000" rIns="127000" tIns="76200" bIns="7620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0" i="0">
                <a:solidFill>
                  <a:srgbClr val="FFFFFF"/>
                </a:solidFill>
                <a:latin typeface="Arial"/>
              </a:rPr>
              <a:t>Dominga E. Ramírez Reyes · María M. Vicuña Watkins · Antonia F. Troncoso Páez · Josefina Poblete Moreno · Amaru S. Agüero Jiménez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79392"/>
            <a:ext cx="24057864" cy="548640"/>
          </a:xfrm>
          <a:prstGeom prst="rect">
            <a:avLst/>
          </a:prstGeom>
          <a:noFill/>
        </p:spPr>
        <p:txBody>
          <a:bodyPr wrap="square" anchor="t" lIns="127000" rIns="127000" tIns="76200" bIns="7620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400" b="0" i="1">
                <a:solidFill>
                  <a:srgbClr val="8FE0B4"/>
                </a:solidFill>
                <a:latin typeface="Arial"/>
              </a:rPr>
              <a:t>Enfermedades endocrinas, nutricionales y metabólicas · CIE-10 E00–E89 · Sistema GRD/DEIS, Chile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520904" y="548640"/>
            <a:ext cx="3840480" cy="3657600"/>
          </a:xfrm>
          <a:prstGeom prst="round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520904" y="548640"/>
            <a:ext cx="3840480" cy="3657600"/>
          </a:xfrm>
          <a:prstGeom prst="rect">
            <a:avLst/>
          </a:prstGeom>
          <a:noFill/>
        </p:spPr>
        <p:txBody>
          <a:bodyPr wrap="square" anchor="ctr" lIns="127000" rIns="127000" tIns="76200" bIns="76200">
            <a:spAutoFit/>
          </a:bodyPr>
          <a:lstStyle/>
          <a:p>
            <a:pPr algn="ctr">
              <a:lnSpc>
                <a:spcPct val="102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[ LOGO ]</a:t>
            </a:r>
          </a:p>
          <a:p>
            <a:pPr algn="ctr">
              <a:lnSpc>
                <a:spcPct val="102000"/>
              </a:lnSpc>
              <a:spcAft>
                <a:spcPts val="600"/>
              </a:spcAft>
            </a:pPr>
            <a:r>
              <a:rPr sz="1900" b="0" i="1">
                <a:solidFill>
                  <a:srgbClr val="FFFFFF"/>
                </a:solidFill>
                <a:latin typeface="Arial"/>
              </a:rPr>
              <a:t>institución / facultad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1522904"/>
            <a:ext cx="30275784" cy="1280160"/>
          </a:xfrm>
          <a:prstGeom prst="rect">
            <a:avLst/>
          </a:prstGeom>
          <a:solidFill>
            <a:srgbClr val="13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522904"/>
            <a:ext cx="28446984" cy="1280160"/>
          </a:xfrm>
          <a:prstGeom prst="rect">
            <a:avLst/>
          </a:prstGeom>
          <a:noFill/>
        </p:spPr>
        <p:txBody>
          <a:bodyPr wrap="square" anchor="ctr" lIns="127000" rIns="127000" tIns="76200" bIns="7620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2300" b="0" i="0">
                <a:solidFill>
                  <a:srgbClr val="FFFFFF"/>
                </a:solidFill>
                <a:latin typeface="Arial"/>
              </a:rPr>
              <a:t>Congreso [ Nombre ] 2026  ·  Universidad de Chile  ·  Autor de correspondencia: Amaru S. Agüero Jiménez — a.agueroj@udd.cl  ·  ORCID 0000-0001-7336-1833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623560"/>
            <a:ext cx="9147047" cy="960120"/>
          </a:xfrm>
          <a:prstGeom prst="round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623560"/>
            <a:ext cx="8872727" cy="960120"/>
          </a:xfrm>
          <a:prstGeom prst="rect">
            <a:avLst/>
          </a:prstGeom>
          <a:noFill/>
        </p:spPr>
        <p:txBody>
          <a:bodyPr wrap="square" anchor="ctr" lIns="127000" rIns="127000" tIns="76200" bIns="7620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Introducción · Introduction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6638544"/>
            <a:ext cx="9147047" cy="3383280"/>
          </a:xfrm>
          <a:prstGeom prst="roundRect">
            <a:avLst/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6748272"/>
            <a:ext cx="8781287" cy="3163824"/>
          </a:xfrm>
          <a:prstGeom prst="rect">
            <a:avLst/>
          </a:prstGeom>
          <a:noFill/>
        </p:spPr>
        <p:txBody>
          <a:bodyPr wrap="square" anchor="t" lIns="127000" rIns="127000" tIns="76200" bIns="76200">
            <a:spAutoFit/>
          </a:bodyPr>
          <a:lstStyle/>
          <a:p>
            <a:pPr algn="l">
              <a:lnSpc>
                <a:spcPct val="102000"/>
              </a:lnSpc>
              <a:spcAft>
                <a:spcPts val="900"/>
              </a:spcAft>
            </a:pPr>
            <a:r>
              <a:rPr sz="2300" b="0" i="0">
                <a:solidFill>
                  <a:srgbClr val="2B2B2B"/>
                </a:solidFill>
                <a:latin typeface="Arial"/>
              </a:rPr>
              <a:t>Introducción — contexto epidemiológico, carga de la enfermedad y la brecha de conocimiento que motiva el estudio.
// Introduction — epidemiological context, disease burden and the knowledge gap motivating this work.   [ EDITAR 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10479024"/>
            <a:ext cx="9147047" cy="960120"/>
          </a:xfrm>
          <a:prstGeom prst="round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10479024"/>
            <a:ext cx="8872727" cy="960120"/>
          </a:xfrm>
          <a:prstGeom prst="rect">
            <a:avLst/>
          </a:prstGeom>
          <a:noFill/>
        </p:spPr>
        <p:txBody>
          <a:bodyPr wrap="square" anchor="ctr" lIns="127000" rIns="127000" tIns="76200" bIns="7620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Objetivos · Objectives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11494008"/>
            <a:ext cx="9147047" cy="2377440"/>
          </a:xfrm>
          <a:prstGeom prst="roundRect">
            <a:avLst/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11603736"/>
            <a:ext cx="8781287" cy="2157984"/>
          </a:xfrm>
          <a:prstGeom prst="rect">
            <a:avLst/>
          </a:prstGeom>
          <a:noFill/>
        </p:spPr>
        <p:txBody>
          <a:bodyPr wrap="square" anchor="t" lIns="127000" rIns="127000" tIns="76200" bIns="76200">
            <a:spAutoFit/>
          </a:bodyPr>
          <a:lstStyle/>
          <a:p>
            <a:pPr algn="l">
              <a:lnSpc>
                <a:spcPct val="102000"/>
              </a:lnSpc>
              <a:spcAft>
                <a:spcPts val="900"/>
              </a:spcAft>
            </a:pPr>
            <a:r>
              <a:rPr sz="2300" b="0" i="0">
                <a:solidFill>
                  <a:srgbClr val="2B2B2B"/>
                </a:solidFill>
                <a:latin typeface="Arial"/>
              </a:rPr>
              <a:t>Objetivo — describir la estructura y la evolución temporal de las redes de comorbilidad y sus agrupamientos clínicos.   [ EDITAR 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14328648"/>
            <a:ext cx="9147047" cy="960120"/>
          </a:xfrm>
          <a:prstGeom prst="round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14328648"/>
            <a:ext cx="8872727" cy="960120"/>
          </a:xfrm>
          <a:prstGeom prst="rect">
            <a:avLst/>
          </a:prstGeom>
          <a:noFill/>
        </p:spPr>
        <p:txBody>
          <a:bodyPr wrap="square" anchor="ctr" lIns="127000" rIns="127000" tIns="76200" bIns="7620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Métodos · Methods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15343632"/>
            <a:ext cx="9147047" cy="4754880"/>
          </a:xfrm>
          <a:prstGeom prst="roundRect">
            <a:avLst/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15453360"/>
            <a:ext cx="8781287" cy="4535424"/>
          </a:xfrm>
          <a:prstGeom prst="rect">
            <a:avLst/>
          </a:prstGeom>
          <a:noFill/>
        </p:spPr>
        <p:txBody>
          <a:bodyPr wrap="square" anchor="t" lIns="127000" rIns="127000" tIns="76200" bIns="76200">
            <a:spAutoFit/>
          </a:bodyPr>
          <a:lstStyle/>
          <a:p>
            <a:pPr algn="l">
              <a:lnSpc>
                <a:spcPct val="102000"/>
              </a:lnSpc>
              <a:spcAft>
                <a:spcPts val="900"/>
              </a:spcAft>
            </a:pPr>
            <a:r>
              <a:rPr sz="2300" b="0" i="0">
                <a:solidFill>
                  <a:srgbClr val="2B2B2B"/>
                </a:solidFill>
                <a:latin typeface="Arial"/>
              </a:rPr>
              <a:t>Redes de co-ocurrencia anuales (2019–2024) con pesos de similitud de Jaccard, filtrando aristas sobre el percentil 70. Detección de comunidades (Louvain), análisis de centralidad multidimensional (grado, intermediación, cercanía, vector propio) y descomposición k-core.   [ EDITAR 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6" y="20500848"/>
            <a:ext cx="9256775" cy="11291583"/>
          </a:xfrm>
          <a:prstGeom prst="roundRect">
            <a:avLst/>
          </a:prstGeom>
          <a:solidFill>
            <a:srgbClr val="8FE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omposit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555712"/>
            <a:ext cx="9147047" cy="1118185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14400" y="31792431"/>
            <a:ext cx="9147047" cy="868680"/>
          </a:xfrm>
          <a:prstGeom prst="rect">
            <a:avLst/>
          </a:prstGeom>
          <a:noFill/>
        </p:spPr>
        <p:txBody>
          <a:bodyPr wrap="square" anchor="t" lIns="127000" rIns="127000" tIns="76200" bIns="7620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1">
                <a:solidFill>
                  <a:srgbClr val="13502E"/>
                </a:solidFill>
                <a:latin typeface="Arial"/>
              </a:rPr>
              <a:t>Figura 1. Resumen gráfico de la red (carga, prevalencia, densidad, comunidades, k-core).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64368" y="5623560"/>
            <a:ext cx="9147047" cy="960120"/>
          </a:xfrm>
          <a:prstGeom prst="roundRect">
            <a:avLst/>
          </a:prstGeom>
          <a:solidFill>
            <a:srgbClr val="13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01528" y="5623560"/>
            <a:ext cx="8872727" cy="960120"/>
          </a:xfrm>
          <a:prstGeom prst="rect">
            <a:avLst/>
          </a:prstGeom>
          <a:noFill/>
        </p:spPr>
        <p:txBody>
          <a:bodyPr wrap="square" anchor="ctr" lIns="127000" rIns="127000" tIns="76200" bIns="7620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Arial"/>
              </a:rPr>
              <a:t>Resultados · Results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09503" y="6894576"/>
            <a:ext cx="9256775" cy="12976986"/>
          </a:xfrm>
          <a:prstGeom prst="roundRect">
            <a:avLst/>
          </a:prstGeom>
          <a:solidFill>
            <a:srgbClr val="8FE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composite_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4368" y="6949440"/>
            <a:ext cx="9147047" cy="1286725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564368" y="19871562"/>
            <a:ext cx="9147047" cy="868680"/>
          </a:xfrm>
          <a:prstGeom prst="rect">
            <a:avLst/>
          </a:prstGeom>
          <a:noFill/>
        </p:spPr>
        <p:txBody>
          <a:bodyPr wrap="square" anchor="t" lIns="127000" rIns="127000" tIns="76200" bIns="7620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1">
                <a:solidFill>
                  <a:srgbClr val="13502E"/>
                </a:solidFill>
                <a:latin typeface="Arial"/>
              </a:rPr>
              <a:t>Figura 2. Estructura de red: grafo circular, centralidad, comunidades (Louvain) y k-core.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09503" y="20913978"/>
            <a:ext cx="9256775" cy="9971526"/>
          </a:xfrm>
          <a:prstGeom prst="roundRect">
            <a:avLst/>
          </a:prstGeom>
          <a:solidFill>
            <a:srgbClr val="8FE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composite_epidemiolog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4368" y="20968842"/>
            <a:ext cx="9147047" cy="986179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564368" y="30885504"/>
            <a:ext cx="9147047" cy="868680"/>
          </a:xfrm>
          <a:prstGeom prst="rect">
            <a:avLst/>
          </a:prstGeom>
          <a:noFill/>
        </p:spPr>
        <p:txBody>
          <a:bodyPr wrap="square" anchor="t" lIns="127000" rIns="127000" tIns="76200" bIns="7620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1">
                <a:solidFill>
                  <a:srgbClr val="13502E"/>
                </a:solidFill>
                <a:latin typeface="Arial"/>
              </a:rPr>
              <a:t>Figura 3. Epidemiología de comorbilidad: prevalencia por año, carga y asociaciones clave.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0214336" y="5623560"/>
            <a:ext cx="9147047" cy="960120"/>
          </a:xfrm>
          <a:prstGeom prst="round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351495" y="5623560"/>
            <a:ext cx="8872727" cy="960120"/>
          </a:xfrm>
          <a:prstGeom prst="rect">
            <a:avLst/>
          </a:prstGeom>
          <a:noFill/>
        </p:spPr>
        <p:txBody>
          <a:bodyPr wrap="square" anchor="ctr" lIns="127000" rIns="127000" tIns="76200" bIns="7620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Hallazgos clave · Key findings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0214336" y="6638544"/>
            <a:ext cx="9147047" cy="4572000"/>
          </a:xfrm>
          <a:prstGeom prst="roundRect">
            <a:avLst/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397216" y="6748272"/>
            <a:ext cx="8781287" cy="4352544"/>
          </a:xfrm>
          <a:prstGeom prst="rect">
            <a:avLst/>
          </a:prstGeom>
          <a:noFill/>
        </p:spPr>
        <p:txBody>
          <a:bodyPr wrap="square" anchor="t" lIns="127000" rIns="127000" tIns="76200" bIns="76200">
            <a:spAutoFit/>
          </a:bodyPr>
          <a:lstStyle/>
          <a:p>
            <a:pPr algn="l">
              <a:lnSpc>
                <a:spcPct val="102000"/>
              </a:lnSpc>
              <a:spcAft>
                <a:spcPts val="900"/>
              </a:spcAft>
            </a:pPr>
            <a:r>
              <a:rPr sz="2300" b="0" i="0">
                <a:solidFill>
                  <a:srgbClr val="2B2B2B"/>
                </a:solidFill>
                <a:latin typeface="Arial"/>
              </a:rPr>
              <a:t>•  [ Hallazgo 1 — completar con cifras clave ]</a:t>
            </a:r>
          </a:p>
          <a:p>
            <a:pPr algn="l">
              <a:lnSpc>
                <a:spcPct val="102000"/>
              </a:lnSpc>
              <a:spcAft>
                <a:spcPts val="900"/>
              </a:spcAft>
            </a:pPr>
            <a:r>
              <a:rPr sz="2300" b="0" i="0">
                <a:solidFill>
                  <a:srgbClr val="2B2B2B"/>
                </a:solidFill>
                <a:latin typeface="Arial"/>
              </a:rPr>
              <a:t>•  [ Hallazgo 2 ]</a:t>
            </a:r>
          </a:p>
          <a:p>
            <a:pPr algn="l">
              <a:lnSpc>
                <a:spcPct val="102000"/>
              </a:lnSpc>
              <a:spcAft>
                <a:spcPts val="900"/>
              </a:spcAft>
            </a:pPr>
            <a:r>
              <a:rPr sz="2300" b="0" i="0">
                <a:solidFill>
                  <a:srgbClr val="2B2B2B"/>
                </a:solidFill>
                <a:latin typeface="Arial"/>
              </a:rPr>
              <a:t>•  [ Hallazgo 3 ]</a:t>
            </a:r>
          </a:p>
          <a:p>
            <a:pPr algn="l">
              <a:lnSpc>
                <a:spcPct val="102000"/>
              </a:lnSpc>
              <a:spcAft>
                <a:spcPts val="900"/>
              </a:spcAft>
            </a:pPr>
            <a:r>
              <a:rPr sz="2300" b="0" i="0">
                <a:solidFill>
                  <a:srgbClr val="2B2B2B"/>
                </a:solidFill>
                <a:latin typeface="Arial"/>
              </a:rPr>
              <a:t>•  [ Hallazgo 4 ]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0214336" y="11667744"/>
            <a:ext cx="9147047" cy="960120"/>
          </a:xfrm>
          <a:prstGeom prst="round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351495" y="11667744"/>
            <a:ext cx="8872727" cy="960120"/>
          </a:xfrm>
          <a:prstGeom prst="rect">
            <a:avLst/>
          </a:prstGeom>
          <a:noFill/>
        </p:spPr>
        <p:txBody>
          <a:bodyPr wrap="square" anchor="ctr" lIns="127000" rIns="127000" tIns="76200" bIns="7620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Conclusiones · Conclusions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0214336" y="12682728"/>
            <a:ext cx="9147047" cy="4572000"/>
          </a:xfrm>
          <a:prstGeom prst="roundRect">
            <a:avLst/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397216" y="12792456"/>
            <a:ext cx="8781287" cy="4352544"/>
          </a:xfrm>
          <a:prstGeom prst="rect">
            <a:avLst/>
          </a:prstGeom>
          <a:noFill/>
        </p:spPr>
        <p:txBody>
          <a:bodyPr wrap="square" anchor="t" lIns="127000" rIns="127000" tIns="76200" bIns="76200">
            <a:spAutoFit/>
          </a:bodyPr>
          <a:lstStyle/>
          <a:p>
            <a:pPr algn="l">
              <a:lnSpc>
                <a:spcPct val="102000"/>
              </a:lnSpc>
              <a:spcAft>
                <a:spcPts val="900"/>
              </a:spcAft>
            </a:pPr>
            <a:r>
              <a:rPr sz="2300" b="0" i="0">
                <a:solidFill>
                  <a:srgbClr val="2B2B2B"/>
                </a:solidFill>
                <a:latin typeface="Arial"/>
              </a:rPr>
              <a:t>Conclusión principal y su implicancia clínica / de salud pública.
// Main conclusion and its clinical / public-health implication.   [ EDITAR ]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0214336" y="17711928"/>
            <a:ext cx="9147047" cy="960120"/>
          </a:xfrm>
          <a:prstGeom prst="round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351495" y="17711928"/>
            <a:ext cx="8872727" cy="960120"/>
          </a:xfrm>
          <a:prstGeom prst="rect">
            <a:avLst/>
          </a:prstGeom>
          <a:noFill/>
        </p:spPr>
        <p:txBody>
          <a:bodyPr wrap="square" anchor="ctr" lIns="127000" rIns="127000" tIns="76200" bIns="7620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Referencias · References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0214336" y="18726912"/>
            <a:ext cx="9147047" cy="3840480"/>
          </a:xfrm>
          <a:prstGeom prst="roundRect">
            <a:avLst/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397216" y="18836640"/>
            <a:ext cx="8781287" cy="3621024"/>
          </a:xfrm>
          <a:prstGeom prst="rect">
            <a:avLst/>
          </a:prstGeom>
          <a:noFill/>
        </p:spPr>
        <p:txBody>
          <a:bodyPr wrap="square" anchor="t" lIns="127000" rIns="127000" tIns="76200" bIns="76200">
            <a:spAutoFit/>
          </a:bodyPr>
          <a:lstStyle/>
          <a:p>
            <a:pPr algn="l">
              <a:lnSpc>
                <a:spcPct val="102000"/>
              </a:lnSpc>
              <a:spcAft>
                <a:spcPts val="900"/>
              </a:spcAft>
            </a:pPr>
            <a:r>
              <a:rPr sz="2100" b="0" i="0">
                <a:solidFill>
                  <a:srgbClr val="2B2B2B"/>
                </a:solidFill>
                <a:latin typeface="Arial"/>
              </a:rPr>
              <a:t>[1] …
[2] …
[3] …
[4] …
[5] …   (completar)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0214336" y="23024592"/>
            <a:ext cx="9147047" cy="960120"/>
          </a:xfrm>
          <a:prstGeom prst="round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351495" y="23024592"/>
            <a:ext cx="8872727" cy="960120"/>
          </a:xfrm>
          <a:prstGeom prst="rect">
            <a:avLst/>
          </a:prstGeom>
          <a:noFill/>
        </p:spPr>
        <p:txBody>
          <a:bodyPr wrap="square" anchor="ctr" lIns="127000" rIns="127000" tIns="76200" bIns="7620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Financiamiento · Funding / QR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0214336" y="24039576"/>
            <a:ext cx="9147047" cy="3108960"/>
          </a:xfrm>
          <a:prstGeom prst="roundRect">
            <a:avLst/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397216" y="24149304"/>
            <a:ext cx="8781287" cy="2889504"/>
          </a:xfrm>
          <a:prstGeom prst="rect">
            <a:avLst/>
          </a:prstGeom>
          <a:noFill/>
        </p:spPr>
        <p:txBody>
          <a:bodyPr wrap="square" anchor="t" lIns="127000" rIns="127000" tIns="76200" bIns="76200">
            <a:spAutoFit/>
          </a:bodyPr>
          <a:lstStyle/>
          <a:p>
            <a:pPr algn="l">
              <a:lnSpc>
                <a:spcPct val="102000"/>
              </a:lnSpc>
              <a:spcAft>
                <a:spcPts val="900"/>
              </a:spcAft>
            </a:pPr>
            <a:r>
              <a:rPr sz="2200" b="0" i="0">
                <a:solidFill>
                  <a:srgbClr val="2B2B2B"/>
                </a:solidFill>
                <a:latin typeface="Arial"/>
              </a:rPr>
              <a:t>Agradecimientos / financiamiento.   [ EDITAR ]
Espacio para código QR al artículo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