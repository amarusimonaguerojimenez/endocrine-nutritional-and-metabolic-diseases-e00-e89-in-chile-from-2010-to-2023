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937760"/>
          </a:xfrm>
          <a:prstGeom prst="rect">
            <a:avLst/>
          </a:prstGeom>
          <a:solidFill>
            <a:srgbClr val="12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30275784" cy="164592"/>
          </a:xfrm>
          <a:prstGeom prst="rect">
            <a:avLst/>
          </a:prstGeom>
          <a:solidFill>
            <a:srgbClr val="7F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24057864" cy="68580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7FD0E6"/>
                </a:solidFill>
                <a:latin typeface="Arial"/>
              </a:rPr>
              <a:t>MORTALIDAD Y ESTADÍA · IN-HOSPITAL MORTALITY &amp; LENGTH OF STAY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24057864" cy="265176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Arial"/>
              </a:rPr>
              <a:t>Mortalidad intrahospitalaria y duración de estadía en hospitalizaciones endocrino-metabólicas (E00–E89) — Chile, GRD 2019–2024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75887"/>
            <a:ext cx="24057864" cy="658368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Arial"/>
              </a:rPr>
              <a:t>Dominga E. Ramírez Reyes · María M. Vicuña Watkins · Antonia F. Troncoso Páez · Josefina Poblete Moreno · Amaru S. Agüero Jiménez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79392"/>
            <a:ext cx="24057864" cy="54864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400" b="0" i="1">
                <a:solidFill>
                  <a:srgbClr val="7FD0E6"/>
                </a:solidFill>
                <a:latin typeface="Arial"/>
              </a:rPr>
              <a:t>Enfermedades endocrinas, nutricionales y metabólicas · CIE-10 E00–E89 · Sistema GRD/DEIS, Chile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20904" y="548640"/>
            <a:ext cx="3840480" cy="365760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0904" y="548640"/>
            <a:ext cx="3840480" cy="365760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[ LOGO ]</a:t>
            </a:r>
          </a:p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sz="1900" b="0" i="1">
                <a:solidFill>
                  <a:srgbClr val="FFFFFF"/>
                </a:solidFill>
                <a:latin typeface="Arial"/>
              </a:rPr>
              <a:t>institución / facultad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1522904"/>
            <a:ext cx="30275784" cy="1280160"/>
          </a:xfrm>
          <a:prstGeom prst="rect">
            <a:avLst/>
          </a:prstGeom>
          <a:solidFill>
            <a:srgbClr val="12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522904"/>
            <a:ext cx="28446984" cy="128016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2300" b="0" i="0">
                <a:solidFill>
                  <a:srgbClr val="FFFFFF"/>
                </a:solidFill>
                <a:latin typeface="Arial"/>
              </a:rPr>
              <a:t>Congreso [ Nombre ] 2026  ·  Universidad de Chile  ·  Autor de correspondencia: Amaru S. Agüero Jiménez — a.agueroj@udd.cl  ·  ORCID 0000-0001-7336-1833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23560"/>
            <a:ext cx="9147047" cy="96012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623560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Introducción · Introduction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6638544"/>
            <a:ext cx="9147047" cy="3383280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6748272"/>
            <a:ext cx="8781287" cy="316382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Introducción — contexto epidemiológico, carga de la enfermedad y la brecha de conocimiento que motiva el estudio.
// Introduction — epidemiological context, disease burden and the knowledge gap motivating this work.   [ EDITAR 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0479024"/>
            <a:ext cx="9147047" cy="96012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0479024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Objetivos · Objectives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1494008"/>
            <a:ext cx="9147047" cy="2377440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11603736"/>
            <a:ext cx="8781287" cy="215798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Objetivo — caracterizar la mortalidad intrahospitalaria y la duración de estadía por categoría/sitio, e identificar predictores de riesgo.   [ EDITAR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14328648"/>
            <a:ext cx="9147047" cy="96012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14328648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Métodos · Methods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15343632"/>
            <a:ext cx="9147047" cy="4754880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15453360"/>
            <a:ext cx="8781287" cy="453542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Cohorte retrospectiva del sistema GRD (2019–2024). Ecuaciones de estimación generalizadas (GEE) con agrupación por hospital: enlace logit para mortalidad intrahospitalaria y binomial negativa para duración de estadía. Comorbilidades seleccionadas por significancia bivariada (p&lt;0,05). Cinco algoritmos de aprendizaje automático con seis técnicas de balanceo y umbral por índice de Youden.   [ EDITAR 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" y="20500848"/>
            <a:ext cx="9256775" cy="10826750"/>
          </a:xfrm>
          <a:prstGeom prst="roundRect">
            <a:avLst/>
          </a:prstGeom>
          <a:solidFill>
            <a:srgbClr val="7F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omposit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55712"/>
            <a:ext cx="9147047" cy="1071702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0" y="31327598"/>
            <a:ext cx="9147047" cy="86868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1">
                <a:solidFill>
                  <a:srgbClr val="123E55"/>
                </a:solidFill>
                <a:latin typeface="Arial"/>
              </a:rPr>
              <a:t>Figura 1. Resumen gráfico de resultados (demografía, mortalidad, estadía, predictores).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64368" y="5623560"/>
            <a:ext cx="9147047" cy="960120"/>
          </a:xfrm>
          <a:prstGeom prst="roundRect">
            <a:avLst/>
          </a:prstGeom>
          <a:solidFill>
            <a:srgbClr val="123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01528" y="5623560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Resultados ·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09503" y="6894576"/>
            <a:ext cx="9256775" cy="10897128"/>
          </a:xfrm>
          <a:prstGeom prst="roundRect">
            <a:avLst/>
          </a:prstGeom>
          <a:solidFill>
            <a:srgbClr val="7F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omposite_mort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368" y="6949440"/>
            <a:ext cx="9147047" cy="10787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64368" y="17791704"/>
            <a:ext cx="9147047" cy="86868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1">
                <a:solidFill>
                  <a:srgbClr val="123E55"/>
                </a:solidFill>
                <a:latin typeface="Arial"/>
              </a:rPr>
              <a:t>Figura 2. Mortalidad: tasa por categoría, AUC de GEE, curvas ROC, OR predictores y AUC de ML.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09503" y="18834120"/>
            <a:ext cx="9256775" cy="10162739"/>
          </a:xfrm>
          <a:prstGeom prst="roundRect">
            <a:avLst/>
          </a:prstGeom>
          <a:solidFill>
            <a:srgbClr val="7F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omposite_los_comorbid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368" y="18888984"/>
            <a:ext cx="9147047" cy="1005301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64368" y="28996859"/>
            <a:ext cx="9147047" cy="868680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100" b="0" i="1">
                <a:solidFill>
                  <a:srgbClr val="123E55"/>
                </a:solidFill>
                <a:latin typeface="Arial"/>
              </a:rPr>
              <a:t>Figura 3. Estadía y comorbilidad: LOS por categoría, IRR (GEE-NB), mapa de impacto y tendencias.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214336" y="5623560"/>
            <a:ext cx="9147047" cy="96012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351495" y="5623560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Hallazgos clave · Key findings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214336" y="6638544"/>
            <a:ext cx="9147047" cy="4572000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397216" y="6748272"/>
            <a:ext cx="8781287" cy="435254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•  [ Hallazgo 1 — completar con cifras clave ]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•  [ Hallazgo 2 ]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•  [ Hallazgo 3 ]</a:t>
            </a:r>
          </a:p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•  [ Hallazgo 4 ]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214336" y="11667744"/>
            <a:ext cx="9147047" cy="96012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351495" y="11667744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Conclusiones · Conclusions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0214336" y="12682728"/>
            <a:ext cx="9147047" cy="4572000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397216" y="12792456"/>
            <a:ext cx="8781287" cy="435254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300" b="0" i="0">
                <a:solidFill>
                  <a:srgbClr val="2B2B2B"/>
                </a:solidFill>
                <a:latin typeface="Arial"/>
              </a:rPr>
              <a:t>Conclusión principal y su implicancia clínica / de salud pública.
// Main conclusion and its clinical / public-health implication.   [ EDITAR 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214336" y="17711928"/>
            <a:ext cx="9147047" cy="96012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351495" y="17711928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Referencias · References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214336" y="18726912"/>
            <a:ext cx="9147047" cy="3840480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397216" y="18836640"/>
            <a:ext cx="8781287" cy="362102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100" b="0" i="0">
                <a:solidFill>
                  <a:srgbClr val="2B2B2B"/>
                </a:solidFill>
                <a:latin typeface="Arial"/>
              </a:rPr>
              <a:t>[1] …
[2] …
[3] …
[4] …
[5] …   (completar)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214336" y="23024592"/>
            <a:ext cx="9147047" cy="96012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351495" y="23024592"/>
            <a:ext cx="8872727" cy="960120"/>
          </a:xfrm>
          <a:prstGeom prst="rect">
            <a:avLst/>
          </a:prstGeom>
          <a:noFill/>
        </p:spPr>
        <p:txBody>
          <a:bodyPr wrap="square" anchor="ctr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Financiamiento · Funding / QR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0214336" y="24039576"/>
            <a:ext cx="9147047" cy="3108960"/>
          </a:xfrm>
          <a:prstGeom prst="roundRect">
            <a:avLst/>
          </a:prstGeom>
          <a:solidFill>
            <a:srgbClr val="EA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397216" y="24149304"/>
            <a:ext cx="8781287" cy="2889504"/>
          </a:xfrm>
          <a:prstGeom prst="rect">
            <a:avLst/>
          </a:prstGeom>
          <a:noFill/>
        </p:spPr>
        <p:txBody>
          <a:bodyPr wrap="square" anchor="t" lIns="127000" rIns="127000" tIns="76200" bIns="76200">
            <a:spAutoFit/>
          </a:bodyPr>
          <a:lstStyle/>
          <a:p>
            <a:pPr algn="l">
              <a:lnSpc>
                <a:spcPct val="102000"/>
              </a:lnSpc>
              <a:spcAft>
                <a:spcPts val="900"/>
              </a:spcAft>
            </a:pPr>
            <a:r>
              <a:rPr sz="2200" b="0" i="0">
                <a:solidFill>
                  <a:srgbClr val="2B2B2B"/>
                </a:solidFill>
                <a:latin typeface="Arial"/>
              </a:rPr>
              <a:t>Agradecimientos / financiamiento.   [ EDITAR ]
Espacio para código QR al artículo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